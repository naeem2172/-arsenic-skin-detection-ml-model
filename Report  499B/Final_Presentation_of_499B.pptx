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1" r:id="rId7"/>
    <p:sldId id="263" r:id="rId8"/>
    <p:sldId id="267" r:id="rId9"/>
    <p:sldId id="265" r:id="rId10"/>
    <p:sldId id="268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926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288"/>
            <a:ext cx="5993607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6139" y="167033"/>
            <a:ext cx="729491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Arsenic Skin Detection Using Machine Learning</a:t>
            </a:r>
            <a:endParaRPr sz="3800" b="1" i="0" dirty="0">
              <a:solidFill>
                <a:srgbClr val="062A40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48988" y="3850196"/>
            <a:ext cx="48017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600" b="1" dirty="0">
                <a:solidFill>
                  <a:schemeClr val="tx2">
                    <a:lumMod val="50000"/>
                    <a:alpha val="70000"/>
                  </a:schemeClr>
                </a:solidFill>
                <a:latin typeface="Arial" panose="020B0604020202020204" pitchFamily="34" charset="0"/>
              </a:rPr>
              <a:t>Ashraful Islam (2212669042)</a:t>
            </a:r>
          </a:p>
          <a:p>
            <a:r>
              <a:rPr lang="en-US" altLang="en-US" sz="1600" b="1" dirty="0">
                <a:solidFill>
                  <a:schemeClr val="tx2">
                    <a:lumMod val="50000"/>
                    <a:alpha val="70000"/>
                  </a:schemeClr>
                </a:solidFill>
                <a:latin typeface="Arial" panose="020B0604020202020204" pitchFamily="34" charset="0"/>
              </a:rPr>
              <a:t>Tanushree Das (2212225042)</a:t>
            </a:r>
          </a:p>
          <a:p>
            <a:pPr algn="l"/>
            <a:endParaRPr sz="2200" b="1" i="0" dirty="0">
              <a:solidFill>
                <a:srgbClr val="062A40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186487" y="3653029"/>
            <a:ext cx="3028951" cy="1158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1200" dirty="0">
                <a:solidFill>
                  <a:schemeClr val="bg1">
                    <a:alpha val="70000"/>
                  </a:schemeClr>
                </a:solidFill>
                <a:latin typeface="Arial" panose="020B0604020202020204" pitchFamily="34" charset="0"/>
              </a:rPr>
              <a:t>CSE 499B </a:t>
            </a:r>
          </a:p>
          <a:p>
            <a:pPr lvl="0" defTabSz="914400" eaLnBrk="0" fontAlgn="base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1200" dirty="0">
                <a:solidFill>
                  <a:schemeClr val="bg1">
                    <a:alpha val="70000"/>
                  </a:schemeClr>
                </a:solidFill>
                <a:latin typeface="Arial" panose="020B0604020202020204" pitchFamily="34" charset="0"/>
              </a:rPr>
              <a:t>Final Presentation</a:t>
            </a:r>
          </a:p>
          <a:p>
            <a:pPr lvl="0" defTabSz="914400" eaLnBrk="0" fontAlgn="base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1200" dirty="0">
                <a:solidFill>
                  <a:schemeClr val="bg1">
                    <a:alpha val="70000"/>
                  </a:schemeClr>
                </a:solidFill>
                <a:latin typeface="Arial" panose="020B0604020202020204" pitchFamily="34" charset="0"/>
              </a:rPr>
              <a:t>Section: 12</a:t>
            </a:r>
          </a:p>
          <a:p>
            <a:pPr lvl="0" eaLnBrk="0" fontAlgn="base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  <a:buClrTx/>
            </a:pPr>
            <a:r>
              <a:rPr lang="en-US" altLang="en-US" sz="1200" dirty="0">
                <a:solidFill>
                  <a:schemeClr val="bg1">
                    <a:alpha val="70000"/>
                  </a:schemeClr>
                </a:solidFill>
                <a:latin typeface="Arial" panose="020B0604020202020204" pitchFamily="34" charset="0"/>
              </a:rPr>
              <a:t>Group: 07</a:t>
            </a:r>
            <a:endParaRPr sz="1200" b="0" i="0" dirty="0">
              <a:solidFill>
                <a:srgbClr val="062A40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91865" y="1455181"/>
            <a:ext cx="4801742" cy="45719"/>
          </a:xfrm>
          <a:prstGeom prst="rect">
            <a:avLst/>
          </a:prstGeom>
          <a:solidFill>
            <a:srgbClr val="0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139" y="1656749"/>
            <a:ext cx="2971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062A40"/>
                </a:solidFill>
                <a:latin typeface="Calibri"/>
              </a:rPr>
              <a:t>Flask Web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139" y="1850057"/>
            <a:ext cx="32658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062A40"/>
                </a:solidFill>
                <a:latin typeface="Calibri"/>
              </a:rPr>
              <a:t>Deep Learning · Image Classification · Healthcare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EA8E63-0C50-0272-AC29-B646A6D457A2}"/>
              </a:ext>
            </a:extLst>
          </p:cNvPr>
          <p:cNvSpPr/>
          <p:nvPr/>
        </p:nvSpPr>
        <p:spPr>
          <a:xfrm>
            <a:off x="-277178" y="0"/>
            <a:ext cx="9144000" cy="5143500"/>
          </a:xfrm>
          <a:prstGeom prst="rect">
            <a:avLst/>
          </a:prstGeom>
          <a:solidFill>
            <a:srgbClr val="0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B61259-F481-98E6-930B-6A51BED7D0CD}"/>
              </a:ext>
            </a:extLst>
          </p:cNvPr>
          <p:cNvSpPr txBox="1"/>
          <p:nvPr/>
        </p:nvSpPr>
        <p:spPr>
          <a:xfrm>
            <a:off x="228600" y="3145646"/>
            <a:ext cx="2971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062A40"/>
                </a:solidFill>
                <a:latin typeface="Calibri"/>
              </a:rPr>
              <a:t>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44713C-A6F9-73A2-7E90-621C26DA1977}"/>
              </a:ext>
            </a:extLst>
          </p:cNvPr>
          <p:cNvSpPr txBox="1"/>
          <p:nvPr/>
        </p:nvSpPr>
        <p:spPr>
          <a:xfrm>
            <a:off x="277178" y="365760"/>
            <a:ext cx="5212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00A896"/>
                </a:solidFill>
                <a:latin typeface="Calibri"/>
              </a:rPr>
              <a:t>Project Overview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402400-F47D-E4AE-8D8F-A2FB14C63BF7}"/>
              </a:ext>
            </a:extLst>
          </p:cNvPr>
          <p:cNvSpPr txBox="1"/>
          <p:nvPr/>
        </p:nvSpPr>
        <p:spPr>
          <a:xfrm>
            <a:off x="277178" y="1185148"/>
            <a:ext cx="50292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dirty="0">
                <a:solidFill>
                  <a:srgbClr val="D0E4EC"/>
                </a:solidFill>
                <a:latin typeface="Calibri"/>
              </a:rPr>
              <a:t>A machine learning system to detect arsenic-related skin conditions from photographs.</a:t>
            </a:r>
          </a:p>
          <a:p>
            <a:endParaRPr sz="1400" b="0" dirty="0">
              <a:solidFill>
                <a:srgbClr val="D0E4EC"/>
              </a:solidFill>
              <a:latin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3E87CC-A65E-FE33-71A5-E62E94AD819D}"/>
              </a:ext>
            </a:extLst>
          </p:cNvPr>
          <p:cNvSpPr/>
          <p:nvPr/>
        </p:nvSpPr>
        <p:spPr>
          <a:xfrm>
            <a:off x="3840480" y="2286000"/>
            <a:ext cx="2240280" cy="1005840"/>
          </a:xfrm>
          <a:prstGeom prst="rect">
            <a:avLst/>
          </a:prstGeom>
          <a:solidFill>
            <a:srgbClr val="073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135F64-D846-87BA-F6B9-D972C39D3181}"/>
              </a:ext>
            </a:extLst>
          </p:cNvPr>
          <p:cNvSpPr txBox="1"/>
          <p:nvPr/>
        </p:nvSpPr>
        <p:spPr>
          <a:xfrm>
            <a:off x="3977640" y="23591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A896"/>
                </a:solidFill>
                <a:latin typeface="Calibri"/>
              </a:rPr>
              <a:t>ResNet50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3A4F49-A4C0-4696-F0E9-624FB375B17A}"/>
              </a:ext>
            </a:extLst>
          </p:cNvPr>
          <p:cNvSpPr txBox="1"/>
          <p:nvPr/>
        </p:nvSpPr>
        <p:spPr>
          <a:xfrm>
            <a:off x="3977640" y="27889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D0E4EC"/>
                </a:solidFill>
                <a:latin typeface="Calibri"/>
              </a:rPr>
              <a:t>Deep Learning Model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32A812-67A0-4F1A-2E05-B38F97810770}"/>
              </a:ext>
            </a:extLst>
          </p:cNvPr>
          <p:cNvSpPr/>
          <p:nvPr/>
        </p:nvSpPr>
        <p:spPr>
          <a:xfrm>
            <a:off x="6263640" y="2286000"/>
            <a:ext cx="2240280" cy="1005840"/>
          </a:xfrm>
          <a:prstGeom prst="rect">
            <a:avLst/>
          </a:prstGeom>
          <a:solidFill>
            <a:srgbClr val="073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F8437F-C0D1-A6C4-030D-2FD2C563861B}"/>
              </a:ext>
            </a:extLst>
          </p:cNvPr>
          <p:cNvSpPr txBox="1"/>
          <p:nvPr/>
        </p:nvSpPr>
        <p:spPr>
          <a:xfrm>
            <a:off x="6400800" y="23591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A896"/>
                </a:solidFill>
                <a:latin typeface="Calibri"/>
              </a:rPr>
              <a:t>Flask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29CBBA-02D3-0889-4E82-2C14CAA84B30}"/>
              </a:ext>
            </a:extLst>
          </p:cNvPr>
          <p:cNvSpPr txBox="1"/>
          <p:nvPr/>
        </p:nvSpPr>
        <p:spPr>
          <a:xfrm>
            <a:off x="6400800" y="27889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E4EC"/>
                </a:solidFill>
                <a:latin typeface="Calibri"/>
              </a:rPr>
              <a:t>Web Framework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79A2601-6DD9-254B-DF7C-A18388852F79}"/>
              </a:ext>
            </a:extLst>
          </p:cNvPr>
          <p:cNvSpPr/>
          <p:nvPr/>
        </p:nvSpPr>
        <p:spPr>
          <a:xfrm>
            <a:off x="3840480" y="3474720"/>
            <a:ext cx="2240280" cy="1005840"/>
          </a:xfrm>
          <a:prstGeom prst="rect">
            <a:avLst/>
          </a:prstGeom>
          <a:solidFill>
            <a:srgbClr val="073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FEA3B0-188C-B75A-B4D2-A44D837EAA0A}"/>
              </a:ext>
            </a:extLst>
          </p:cNvPr>
          <p:cNvSpPr txBox="1"/>
          <p:nvPr/>
        </p:nvSpPr>
        <p:spPr>
          <a:xfrm>
            <a:off x="3977640" y="354787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A896"/>
                </a:solidFill>
                <a:latin typeface="Calibri"/>
              </a:rPr>
              <a:t>128×128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414C90-4251-2717-E0E8-5CDE4C716F46}"/>
              </a:ext>
            </a:extLst>
          </p:cNvPr>
          <p:cNvSpPr txBox="1"/>
          <p:nvPr/>
        </p:nvSpPr>
        <p:spPr>
          <a:xfrm>
            <a:off x="3977640" y="397763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E4EC"/>
                </a:solidFill>
                <a:latin typeface="Calibri"/>
              </a:rPr>
              <a:t>Image Input Size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77CB0DC-BD80-A858-C6DC-EBEA6D498BFE}"/>
              </a:ext>
            </a:extLst>
          </p:cNvPr>
          <p:cNvSpPr/>
          <p:nvPr/>
        </p:nvSpPr>
        <p:spPr>
          <a:xfrm>
            <a:off x="6263640" y="3474720"/>
            <a:ext cx="2240280" cy="1005840"/>
          </a:xfrm>
          <a:prstGeom prst="rect">
            <a:avLst/>
          </a:prstGeom>
          <a:solidFill>
            <a:srgbClr val="073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7B0A52-37F0-339E-B47B-54411373E0EF}"/>
              </a:ext>
            </a:extLst>
          </p:cNvPr>
          <p:cNvSpPr txBox="1"/>
          <p:nvPr/>
        </p:nvSpPr>
        <p:spPr>
          <a:xfrm>
            <a:off x="6400800" y="354787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A896"/>
                </a:solidFill>
                <a:latin typeface="Calibri"/>
              </a:rPr>
              <a:t>2-Class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D27B37-F465-65E7-78C9-32C8B5433906}"/>
              </a:ext>
            </a:extLst>
          </p:cNvPr>
          <p:cNvSpPr txBox="1"/>
          <p:nvPr/>
        </p:nvSpPr>
        <p:spPr>
          <a:xfrm>
            <a:off x="6400800" y="397763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E4EC"/>
                </a:solidFill>
                <a:latin typeface="Calibri"/>
              </a:rPr>
              <a:t>Softmax Output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152EE1B-4B49-CDD6-17C8-6FB0E7156B34}"/>
              </a:ext>
            </a:extLst>
          </p:cNvPr>
          <p:cNvSpPr txBox="1"/>
          <p:nvPr/>
        </p:nvSpPr>
        <p:spPr>
          <a:xfrm>
            <a:off x="228600" y="2336929"/>
            <a:ext cx="330374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Goal: To build an AI system that detects arsenic from images and helps users with quick results and guidance.</a:t>
            </a:r>
            <a:endParaRPr sz="1400" b="0" dirty="0">
              <a:solidFill>
                <a:schemeClr val="tx2">
                  <a:lumMod val="20000"/>
                  <a:lumOff val="80000"/>
                </a:scheme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63677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62A40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A7A8A"/>
                </a:solidFill>
                <a:latin typeface="Calibri"/>
              </a:rPr>
              <a:t>Why arsenic detection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4114800" cy="1463040"/>
          </a:xfrm>
          <a:prstGeom prst="rect">
            <a:avLst/>
          </a:prstGeom>
          <a:solidFill>
            <a:srgbClr val="0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A896"/>
                </a:solidFill>
                <a:latin typeface="Calibri"/>
              </a:rPr>
              <a:t>50M+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37490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4EC"/>
                </a:solidFill>
                <a:latin typeface="Calibri"/>
              </a:rPr>
              <a:t>People at risk from arsenic-contaminated groundwater in Bangladesh alone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600" y="1325880"/>
            <a:ext cx="4114800" cy="1463040"/>
          </a:xfrm>
          <a:prstGeom prst="rect">
            <a:avLst/>
          </a:prstGeom>
          <a:solidFill>
            <a:srgbClr val="0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83480" y="14173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A896"/>
                </a:solidFill>
                <a:latin typeface="Calibri"/>
              </a:rPr>
              <a:t>Slow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2011680"/>
            <a:ext cx="37490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4EC"/>
                </a:solidFill>
                <a:latin typeface="Calibri"/>
              </a:rPr>
              <a:t>Arsenic poisoning shows skin symptoms years after exposure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017520"/>
            <a:ext cx="4114800" cy="1463040"/>
          </a:xfrm>
          <a:prstGeom prst="rect">
            <a:avLst/>
          </a:prstGeom>
          <a:solidFill>
            <a:srgbClr val="0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A896"/>
                </a:solidFill>
                <a:latin typeface="Calibri"/>
              </a:rPr>
              <a:t>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03320"/>
            <a:ext cx="37490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4EC"/>
                </a:solidFill>
                <a:latin typeface="Calibri"/>
              </a:rPr>
              <a:t>Rural areas lack trained dermatologists for early screening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00600" y="3017520"/>
            <a:ext cx="4114800" cy="1463040"/>
          </a:xfrm>
          <a:prstGeom prst="rect">
            <a:avLst/>
          </a:prstGeom>
          <a:solidFill>
            <a:srgbClr val="0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83480" y="310896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A896"/>
                </a:solidFill>
                <a:latin typeface="Calibri"/>
              </a:rPr>
              <a:t>Need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3703320"/>
            <a:ext cx="37490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4EC"/>
                </a:solidFill>
                <a:latin typeface="Calibri"/>
              </a:rPr>
              <a:t>Automated, accessible skin image analysis to flag at-risk patients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773168"/>
            <a:ext cx="8321040" cy="274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4828032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A7A8A"/>
                </a:solidFill>
                <a:latin typeface="Calibri"/>
              </a:rPr>
              <a:t>This project addresses early detection through accessible AI-powered screening.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62A40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A7A8A"/>
                </a:solidFill>
                <a:latin typeface="Calibri"/>
              </a:rPr>
              <a:t>End-to-end pipeline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1481328" cy="1325880"/>
          </a:xfrm>
          <a:prstGeom prst="rect">
            <a:avLst/>
          </a:prstGeom>
          <a:solidFill>
            <a:srgbClr val="0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1481328" cy="43891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" y="1344168"/>
            <a:ext cx="13350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062A40"/>
                </a:solidFill>
                <a:latin typeface="Calibri"/>
              </a:rPr>
              <a:t>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746504"/>
            <a:ext cx="133502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0E4EC"/>
                </a:solidFill>
                <a:latin typeface="Calibri"/>
              </a:rPr>
              <a:t>Image + Patient
Info (PNG/JPEG)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9384" y="1787652"/>
            <a:ext cx="146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A896"/>
                </a:solidFill>
                <a:latin typeface="Calibri"/>
              </a:rPr>
              <a:t>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93976" y="1234440"/>
            <a:ext cx="1481328" cy="1325880"/>
          </a:xfrm>
          <a:prstGeom prst="rect">
            <a:avLst/>
          </a:prstGeom>
          <a:solidFill>
            <a:srgbClr val="0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093976" y="1234440"/>
            <a:ext cx="1481328" cy="43891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67128" y="1344168"/>
            <a:ext cx="13350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062A40"/>
                </a:solidFill>
                <a:latin typeface="Calibri"/>
              </a:rPr>
              <a:t>Flask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67128" y="1746504"/>
            <a:ext cx="133502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0E4EC"/>
                </a:solidFill>
                <a:latin typeface="Calibri"/>
              </a:rPr>
              <a:t>auth.py
app.py routes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1787652"/>
            <a:ext cx="146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A896"/>
                </a:solidFill>
                <a:latin typeface="Calibri"/>
              </a:rPr>
              <a:t>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76472" y="1234440"/>
            <a:ext cx="1481328" cy="1325880"/>
          </a:xfrm>
          <a:prstGeom prst="rect">
            <a:avLst/>
          </a:prstGeom>
          <a:solidFill>
            <a:srgbClr val="0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776472" y="1234440"/>
            <a:ext cx="1481328" cy="43891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49624" y="1344168"/>
            <a:ext cx="13350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062A40"/>
                </a:solidFill>
                <a:latin typeface="Calibri"/>
              </a:rPr>
              <a:t>Preprocess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9624" y="1746504"/>
            <a:ext cx="133502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0E4EC"/>
                </a:solidFill>
                <a:latin typeface="Calibri"/>
              </a:rPr>
              <a:t>128x128 RGB
Normalize /255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94376" y="1787652"/>
            <a:ext cx="146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A896"/>
                </a:solidFill>
                <a:latin typeface="Calibri"/>
              </a:rPr>
              <a:t>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58968" y="1234440"/>
            <a:ext cx="1481328" cy="1325880"/>
          </a:xfrm>
          <a:prstGeom prst="rect">
            <a:avLst/>
          </a:prstGeom>
          <a:solidFill>
            <a:srgbClr val="0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58968" y="1234440"/>
            <a:ext cx="1481328" cy="43891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32120" y="1344168"/>
            <a:ext cx="13350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062A40"/>
                </a:solidFill>
                <a:latin typeface="Calibri"/>
              </a:rPr>
              <a:t>ResNet50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1746504"/>
            <a:ext cx="133502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0E4EC"/>
                </a:solidFill>
                <a:latin typeface="Calibri"/>
              </a:rPr>
              <a:t>Frozen backbone
+ Custom head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6872" y="1787652"/>
            <a:ext cx="1463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A896"/>
                </a:solidFill>
                <a:latin typeface="Calibri"/>
              </a:rPr>
              <a:t>&gt;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41464" y="1234440"/>
            <a:ext cx="1481328" cy="1325880"/>
          </a:xfrm>
          <a:prstGeom prst="rect">
            <a:avLst/>
          </a:prstGeom>
          <a:solidFill>
            <a:srgbClr val="0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141464" y="1234440"/>
            <a:ext cx="1481328" cy="43891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14616" y="1344168"/>
            <a:ext cx="13350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062A40"/>
                </a:solidFill>
                <a:latin typeface="Calibri"/>
              </a:rPr>
              <a:t>Predict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14616" y="1746504"/>
            <a:ext cx="133502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0E4EC"/>
                </a:solidFill>
                <a:latin typeface="Calibri"/>
              </a:rPr>
              <a:t>Infected /
No Arsenic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2926080"/>
            <a:ext cx="832104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1480" y="3017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2A40"/>
                </a:solidFill>
                <a:latin typeface="Calibri"/>
              </a:rPr>
              <a:t>Data Storage (CSV)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3383280"/>
            <a:ext cx="2606040" cy="594360"/>
          </a:xfrm>
          <a:prstGeom prst="rect">
            <a:avLst/>
          </a:prstGeom>
          <a:solidFill>
            <a:srgbClr val="E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345643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2A40"/>
                </a:solidFill>
                <a:latin typeface="Calibri"/>
              </a:rPr>
              <a:t>users.csv  →  Authentication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0" y="3383280"/>
            <a:ext cx="2606040" cy="594360"/>
          </a:xfrm>
          <a:prstGeom prst="rect">
            <a:avLst/>
          </a:prstGeom>
          <a:solidFill>
            <a:srgbClr val="E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337560" y="345643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2A40"/>
                </a:solidFill>
                <a:latin typeface="Calibri"/>
              </a:rPr>
              <a:t>predictions.csv  →  Patient records + results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89320" y="3383280"/>
            <a:ext cx="2606040" cy="594360"/>
          </a:xfrm>
          <a:prstGeom prst="rect">
            <a:avLst/>
          </a:prstGeom>
          <a:solidFill>
            <a:srgbClr val="E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26479" y="345643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2A40"/>
                </a:solidFill>
                <a:latin typeface="Calibri"/>
              </a:rPr>
              <a:t>reviews.csv  →  Star ratings + feedback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4114800"/>
            <a:ext cx="8321040" cy="640080"/>
          </a:xfrm>
          <a:prstGeom prst="rect">
            <a:avLst/>
          </a:prstGeom>
          <a:solidFill>
            <a:srgbClr val="E8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48640" y="4178808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2A40"/>
                </a:solidFill>
                <a:latin typeface="Calibri"/>
              </a:rPr>
              <a:t>Optional Chatbot Module: arsenic_awareness_chatbot/  — rule-based arsenic education bot, session-aware via user email.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62A40"/>
                </a:solidFill>
                <a:latin typeface="Calibri"/>
              </a:rPr>
              <a:t>ML Model — ResNet50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A7A8A"/>
                </a:solidFill>
                <a:latin typeface="Calibri"/>
              </a:rPr>
              <a:t>Transfer learning for skin condition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9844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2A40"/>
                </a:solidFill>
                <a:latin typeface="Calibri"/>
              </a:rPr>
              <a:t>Model Layers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64208"/>
            <a:ext cx="109728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682496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2A40"/>
                </a:solidFill>
                <a:latin typeface="Calibri"/>
              </a:rPr>
              <a:t>ResNet50 Backbone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3611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7A8A"/>
                </a:solidFill>
                <a:latin typeface="Calibri"/>
              </a:rPr>
              <a:t>ImageNet pretrained, frozen weights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176272"/>
            <a:ext cx="109728" cy="3840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194560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2A40"/>
                </a:solidFill>
                <a:latin typeface="Calibri"/>
              </a:rPr>
              <a:t>Flatten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95728"/>
            <a:ext cx="3611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7A8A"/>
                </a:solidFill>
                <a:latin typeface="Calibri"/>
              </a:rPr>
              <a:t>Converts feature maps to vector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688336"/>
            <a:ext cx="109728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706624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2A40"/>
                </a:solidFill>
                <a:latin typeface="Calibri"/>
              </a:rPr>
              <a:t>BatchNorm → Dense(128) → Dropout(0.5)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907791"/>
            <a:ext cx="3611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7A8A"/>
                </a:solidFill>
                <a:latin typeface="Calibri"/>
              </a:rPr>
              <a:t>Feature learning block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200400"/>
            <a:ext cx="109728" cy="3840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218688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2A40"/>
                </a:solidFill>
                <a:latin typeface="Calibri"/>
              </a:rPr>
              <a:t>BatchNorm → Dense(64) → Dropout(0.5)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419856"/>
            <a:ext cx="3611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7A8A"/>
                </a:solidFill>
                <a:latin typeface="Calibri"/>
              </a:rPr>
              <a:t>Feature learning block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712464"/>
            <a:ext cx="109728" cy="384048"/>
          </a:xfrm>
          <a:prstGeom prst="rect">
            <a:avLst/>
          </a:prstGeom>
          <a:solidFill>
            <a:srgbClr val="F4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3730752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2A40"/>
                </a:solidFill>
                <a:latin typeface="Calibri"/>
              </a:rPr>
              <a:t>Dense(2, softmax)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931920"/>
            <a:ext cx="3611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7A8A"/>
                </a:solidFill>
                <a:latin typeface="Calibri"/>
              </a:rPr>
              <a:t>Output: [prob_infected, prob_not_infected]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1298448"/>
            <a:ext cx="42062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62A40"/>
                </a:solidFill>
                <a:latin typeface="Calibri"/>
              </a:rPr>
              <a:t>Training Configuration</a:t>
            </a:r>
            <a:endParaRPr lang="en-US" sz="1300" b="1" i="0" dirty="0">
              <a:solidFill>
                <a:srgbClr val="062A40"/>
              </a:solidFill>
              <a:latin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663440" y="1664208"/>
            <a:ext cx="2011680" cy="8229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73168" y="17190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  <a:latin typeface="Calibri"/>
              </a:rPr>
              <a:t>Dataset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73168" y="1938528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2A40"/>
                </a:solidFill>
                <a:latin typeface="Calibri"/>
              </a:rPr>
              <a:t>ArsenicSkinImageBD
(Augmented / infected / not_infected)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12279" y="1664208"/>
            <a:ext cx="2011680" cy="8229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22007" y="17190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  <a:latin typeface="Calibri"/>
              </a:rPr>
              <a:t>Image Size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22007" y="1938528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2A40"/>
                </a:solidFill>
                <a:latin typeface="Calibri"/>
              </a:rPr>
              <a:t>128 × 128 pixels, RGB, /255 normalized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63440" y="3584448"/>
            <a:ext cx="2011680" cy="8229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773168" y="36393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  <a:latin typeface="Calibri"/>
              </a:rPr>
              <a:t>Split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73168" y="3858768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2A40"/>
                </a:solidFill>
                <a:latin typeface="Calibri"/>
              </a:rPr>
              <a:t>80% train / 20% validation  ·  5 epochs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12279" y="3584448"/>
            <a:ext cx="2011680" cy="8229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922007" y="36393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  <a:latin typeface="Calibri"/>
              </a:rPr>
              <a:t>Classes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22007" y="3858768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062A40"/>
                </a:solidFill>
                <a:latin typeface="Calibri"/>
              </a:rPr>
              <a:t>Class </a:t>
            </a:r>
            <a:r>
              <a:rPr lang="en-US" sz="900" b="0" i="0" dirty="0">
                <a:solidFill>
                  <a:srgbClr val="062A40"/>
                </a:solidFill>
                <a:latin typeface="Calibri"/>
              </a:rPr>
              <a:t>1</a:t>
            </a:r>
            <a:r>
              <a:rPr sz="900" b="0" i="0" dirty="0">
                <a:solidFill>
                  <a:srgbClr val="062A40"/>
                </a:solidFill>
                <a:latin typeface="Calibri"/>
              </a:rPr>
              <a:t> = Infected  </a:t>
            </a:r>
            <a:endParaRPr lang="en-US" sz="900" b="0" i="0" dirty="0">
              <a:solidFill>
                <a:srgbClr val="062A40"/>
              </a:solidFill>
              <a:latin typeface="Calibri"/>
            </a:endParaRPr>
          </a:p>
          <a:p>
            <a:pPr algn="l"/>
            <a:r>
              <a:rPr sz="900" b="0" i="0" dirty="0">
                <a:solidFill>
                  <a:srgbClr val="062A40"/>
                </a:solidFill>
                <a:latin typeface="Calibri"/>
              </a:rPr>
              <a:t> Class </a:t>
            </a:r>
            <a:r>
              <a:rPr lang="en-US" sz="900" b="0" i="0" dirty="0">
                <a:solidFill>
                  <a:srgbClr val="062A40"/>
                </a:solidFill>
                <a:latin typeface="Calibri"/>
              </a:rPr>
              <a:t>0</a:t>
            </a:r>
            <a:r>
              <a:rPr sz="900" b="0" i="0" dirty="0">
                <a:solidFill>
                  <a:srgbClr val="062A40"/>
                </a:solidFill>
                <a:latin typeface="Calibri"/>
              </a:rPr>
              <a:t> = Not Infected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62A40"/>
                </a:solidFill>
                <a:latin typeface="Calibri"/>
              </a:rPr>
              <a:t>Authentication &amp; Data Storage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A7A8A"/>
                </a:solidFill>
                <a:latin typeface="Calibri"/>
              </a:rPr>
              <a:t>auth.py — CSV-based user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984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2A40"/>
                </a:solidFill>
                <a:latin typeface="Calibri"/>
              </a:rPr>
              <a:t>Authentication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91640"/>
            <a:ext cx="91440" cy="4754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72821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2A40"/>
                </a:solidFill>
                <a:latin typeface="Calibri"/>
              </a:rPr>
              <a:t>register_user()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47672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7A8A"/>
                </a:solidFill>
                <a:latin typeface="Calibri"/>
              </a:rPr>
              <a:t>Checks email uniqueness · Validates password ≥ 4 chars · Appends to users.csv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286000"/>
            <a:ext cx="91440" cy="4754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32257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2A40"/>
                </a:solidFill>
                <a:latin typeface="Calibri"/>
              </a:rPr>
              <a:t>verify_user()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542032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7A8A"/>
                </a:solidFill>
                <a:latin typeface="Calibri"/>
              </a:rPr>
              <a:t>Reads users.csv · Matches email + password (plaintext) · Returns bool + message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880360"/>
            <a:ext cx="91440" cy="4754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91693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2A40"/>
                </a:solidFill>
                <a:latin typeface="Calibri"/>
              </a:rPr>
              <a:t>Session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136391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7A8A"/>
                </a:solidFill>
                <a:latin typeface="Calibri"/>
              </a:rPr>
              <a:t>Flask session stores user_email · login_required decorator protects routes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474720"/>
            <a:ext cx="91440" cy="475488"/>
          </a:xfrm>
          <a:prstGeom prst="rect">
            <a:avLst/>
          </a:prstGeom>
          <a:solidFill>
            <a:srgbClr val="F4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51129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2A40"/>
                </a:solidFill>
                <a:latin typeface="Calibri"/>
              </a:rPr>
              <a:t>⚠ Security Note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30752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7A8A"/>
                </a:solidFill>
                <a:latin typeface="Calibri"/>
              </a:rPr>
              <a:t>Passwords stored in plaintext — production use requires bcrypt hashing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129844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2A40"/>
                </a:solidFill>
                <a:latin typeface="Calibri"/>
              </a:rPr>
              <a:t>CSV Data Schemas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1691640"/>
            <a:ext cx="4206240" cy="2926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0" y="1746504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2A40"/>
                </a:solidFill>
                <a:latin typeface="Calibri"/>
              </a:rPr>
              <a:t>users.csv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020824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2A40"/>
                </a:solidFill>
                <a:latin typeface="Calibri"/>
              </a:rPr>
              <a:t>email  ·  password  ·  name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2514600"/>
            <a:ext cx="4206240" cy="2926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0" y="2569464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2A40"/>
                </a:solidFill>
                <a:latin typeface="Calibri"/>
              </a:rPr>
              <a:t>predictions.csv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2843784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2A40"/>
                </a:solidFill>
                <a:latin typeface="Calibri"/>
              </a:rPr>
              <a:t>timestamp  ·  name  ·  email  ·  phone  ·  blood_group  ·  address  ·  label  ·  probability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3337560"/>
            <a:ext cx="4206240" cy="2926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54880" y="3392424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2A40"/>
                </a:solidFill>
                <a:latin typeface="Calibri"/>
              </a:rPr>
              <a:t>reviews.csv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3666744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2A40"/>
                </a:solidFill>
                <a:latin typeface="Calibri"/>
              </a:rPr>
              <a:t>timestamp  ·  rating  ·  review_text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62A40"/>
                </a:solidFill>
                <a:latin typeface="Calibri"/>
              </a:rPr>
              <a:t>Key Features &amp;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68680"/>
            <a:ext cx="8503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5A7A8A"/>
                </a:solidFill>
                <a:latin typeface="Calibri"/>
              </a:rPr>
              <a:t>What the system offers and how it's built</a:t>
            </a:r>
            <a:endParaRPr lang="en-US" sz="1400" b="0" i="0" dirty="0">
              <a:solidFill>
                <a:srgbClr val="5A7A8A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" y="1298448"/>
            <a:ext cx="4023360" cy="1051560"/>
          </a:xfrm>
          <a:prstGeom prst="rect">
            <a:avLst/>
          </a:prstGeom>
          <a:solidFill>
            <a:srgbClr val="0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109728" cy="10515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" y="1389888"/>
            <a:ext cx="3730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🔐 Auth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700784"/>
            <a:ext cx="37307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E4EC"/>
                </a:solidFill>
                <a:latin typeface="Calibri"/>
              </a:rPr>
              <a:t>Register / login / logout with session management. CSV-based user store. Protected routes via decorator.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298448"/>
            <a:ext cx="4023360" cy="1051560"/>
          </a:xfrm>
          <a:prstGeom prst="rect">
            <a:avLst/>
          </a:prstGeom>
          <a:solidFill>
            <a:srgbClr val="0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54880" y="1298448"/>
            <a:ext cx="109728" cy="10515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56048" y="1389888"/>
            <a:ext cx="3730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🖼 Image Prediction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1700784"/>
            <a:ext cx="37307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E4EC"/>
                </a:solidFill>
                <a:latin typeface="Calibri"/>
              </a:rPr>
              <a:t>Upload JPEG/PNG → ResNet50 inference → Binary result with confidence probability. Configurable class index.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468880"/>
            <a:ext cx="4023360" cy="1051560"/>
          </a:xfrm>
          <a:prstGeom prst="rect">
            <a:avLst/>
          </a:prstGeom>
          <a:solidFill>
            <a:srgbClr val="0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11480" y="2468880"/>
            <a:ext cx="109728" cy="10515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" y="2560320"/>
            <a:ext cx="3730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💬 Chatbot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2871216"/>
            <a:ext cx="37307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D0E4EC"/>
                </a:solidFill>
                <a:latin typeface="Calibri"/>
              </a:rPr>
              <a:t>Optional arsenic awareness chatbot (</a:t>
            </a:r>
            <a:r>
              <a:rPr sz="900" b="0" i="0" dirty="0" err="1">
                <a:solidFill>
                  <a:srgbClr val="D0E4EC"/>
                </a:solidFill>
                <a:latin typeface="Calibri"/>
              </a:rPr>
              <a:t>arsenic_awareness_chatbot</a:t>
            </a:r>
            <a:r>
              <a:rPr sz="900" b="0" i="0" dirty="0">
                <a:solidFill>
                  <a:srgbClr val="D0E4EC"/>
                </a:solidFill>
                <a:latin typeface="Calibri"/>
              </a:rPr>
              <a:t> module). Session-aware per user email.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2468880"/>
            <a:ext cx="4023360" cy="1051560"/>
          </a:xfrm>
          <a:prstGeom prst="rect">
            <a:avLst/>
          </a:prstGeom>
          <a:solidFill>
            <a:srgbClr val="0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54880" y="2468880"/>
            <a:ext cx="109728" cy="10515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56048" y="2560320"/>
            <a:ext cx="3730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⭐ Review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6048" y="2871216"/>
            <a:ext cx="37307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0E4EC"/>
                </a:solidFill>
                <a:latin typeface="Calibri"/>
              </a:rPr>
              <a:t>Users rate experience 1–5 stars with optional text. Stored in reviews.csv. Auto-migrates old formats.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568118-3EA0-E856-404D-EEBDED7D0E32}"/>
              </a:ext>
            </a:extLst>
          </p:cNvPr>
          <p:cNvSpPr/>
          <p:nvPr/>
        </p:nvSpPr>
        <p:spPr>
          <a:xfrm>
            <a:off x="0" y="-7144"/>
            <a:ext cx="9144000" cy="5143500"/>
          </a:xfrm>
          <a:prstGeom prst="rect">
            <a:avLst/>
          </a:prstGeom>
          <a:solidFill>
            <a:srgbClr val="0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EF14A6-7277-62F3-E790-2C46E7AFB229}"/>
              </a:ext>
            </a:extLst>
          </p:cNvPr>
          <p:cNvSpPr txBox="1"/>
          <p:nvPr/>
        </p:nvSpPr>
        <p:spPr>
          <a:xfrm>
            <a:off x="457200" y="27432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>
                <a:solidFill>
                  <a:srgbClr val="00A896"/>
                </a:solidFill>
              </a:rPr>
              <a:t>What Was Built</a:t>
            </a:r>
            <a:endParaRPr lang="en-US" sz="2800" b="1" dirty="0">
              <a:solidFill>
                <a:srgbClr val="00A896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18AD1E-F622-6F07-E68B-5865388F427A}"/>
              </a:ext>
            </a:extLst>
          </p:cNvPr>
          <p:cNvSpPr/>
          <p:nvPr/>
        </p:nvSpPr>
        <p:spPr>
          <a:xfrm>
            <a:off x="512064" y="841819"/>
            <a:ext cx="27432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BE303F-0FC1-3F66-E9BC-C24822B32765}"/>
              </a:ext>
            </a:extLst>
          </p:cNvPr>
          <p:cNvSpPr/>
          <p:nvPr/>
        </p:nvSpPr>
        <p:spPr>
          <a:xfrm>
            <a:off x="457200" y="1481328"/>
            <a:ext cx="109728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E409DC-4E0F-D09B-F133-EC7C4D3FE069}"/>
              </a:ext>
            </a:extLst>
          </p:cNvPr>
          <p:cNvSpPr txBox="1"/>
          <p:nvPr/>
        </p:nvSpPr>
        <p:spPr>
          <a:xfrm>
            <a:off x="658368" y="1517904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E4EC"/>
                </a:solidFill>
                <a:latin typeface="Calibri"/>
              </a:rPr>
              <a:t>Flask web app with image-based arsenic detection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412877-0257-598A-081B-010EC289B7D3}"/>
              </a:ext>
            </a:extLst>
          </p:cNvPr>
          <p:cNvSpPr/>
          <p:nvPr/>
        </p:nvSpPr>
        <p:spPr>
          <a:xfrm>
            <a:off x="457200" y="1847088"/>
            <a:ext cx="109728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17DF6C-44FB-2A3C-75AD-D7EF9DB14CC2}"/>
              </a:ext>
            </a:extLst>
          </p:cNvPr>
          <p:cNvSpPr txBox="1"/>
          <p:nvPr/>
        </p:nvSpPr>
        <p:spPr>
          <a:xfrm>
            <a:off x="658368" y="1883664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E4EC"/>
                </a:solidFill>
                <a:latin typeface="Calibri"/>
              </a:rPr>
              <a:t>ResNet50 transfer learning model (128×128 RGB input)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EE87BD-DC21-076D-117A-55069A80FD69}"/>
              </a:ext>
            </a:extLst>
          </p:cNvPr>
          <p:cNvSpPr/>
          <p:nvPr/>
        </p:nvSpPr>
        <p:spPr>
          <a:xfrm>
            <a:off x="457200" y="2212848"/>
            <a:ext cx="109728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20B3FD-BD39-B715-3A83-6B61FD55BAAA}"/>
              </a:ext>
            </a:extLst>
          </p:cNvPr>
          <p:cNvSpPr txBox="1"/>
          <p:nvPr/>
        </p:nvSpPr>
        <p:spPr>
          <a:xfrm>
            <a:off x="658368" y="2249424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E4EC"/>
                </a:solidFill>
                <a:latin typeface="Calibri"/>
              </a:rPr>
              <a:t>Session-based user authentication system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B1BAEE-7633-1F10-DA31-15E0F0597F21}"/>
              </a:ext>
            </a:extLst>
          </p:cNvPr>
          <p:cNvSpPr/>
          <p:nvPr/>
        </p:nvSpPr>
        <p:spPr>
          <a:xfrm>
            <a:off x="457200" y="2578608"/>
            <a:ext cx="109728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3C0D39-DD6F-3B14-1341-0D9A80223332}"/>
              </a:ext>
            </a:extLst>
          </p:cNvPr>
          <p:cNvSpPr txBox="1"/>
          <p:nvPr/>
        </p:nvSpPr>
        <p:spPr>
          <a:xfrm>
            <a:off x="658368" y="2615184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E4EC"/>
                </a:solidFill>
                <a:latin typeface="Calibri"/>
              </a:rPr>
              <a:t>Patient data capture + prediction logging to CSV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5CDD67-4553-0B46-9792-9758E50B111D}"/>
              </a:ext>
            </a:extLst>
          </p:cNvPr>
          <p:cNvSpPr/>
          <p:nvPr/>
        </p:nvSpPr>
        <p:spPr>
          <a:xfrm>
            <a:off x="457200" y="2944368"/>
            <a:ext cx="109728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E5F7FE-E6A1-2D2A-FA57-1E1168E4917D}"/>
              </a:ext>
            </a:extLst>
          </p:cNvPr>
          <p:cNvSpPr txBox="1"/>
          <p:nvPr/>
        </p:nvSpPr>
        <p:spPr>
          <a:xfrm>
            <a:off x="658368" y="2980944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E4EC"/>
                </a:solidFill>
                <a:latin typeface="Calibri"/>
              </a:rPr>
              <a:t>Star-rating review system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FF0010A-0AE7-A9B2-FFFF-494C1F74B5CF}"/>
              </a:ext>
            </a:extLst>
          </p:cNvPr>
          <p:cNvSpPr/>
          <p:nvPr/>
        </p:nvSpPr>
        <p:spPr>
          <a:xfrm>
            <a:off x="457200" y="3310127"/>
            <a:ext cx="109728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851E55-DA4E-1C20-BA9E-A8BE3F2E35FF}"/>
              </a:ext>
            </a:extLst>
          </p:cNvPr>
          <p:cNvSpPr txBox="1"/>
          <p:nvPr/>
        </p:nvSpPr>
        <p:spPr>
          <a:xfrm>
            <a:off x="658368" y="3346703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E4EC"/>
                </a:solidFill>
                <a:latin typeface="Calibri"/>
              </a:rPr>
              <a:t>Configurable class-mapping via .env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D6A92CE-9E27-1EA3-61C3-4DE1A7169D9A}"/>
              </a:ext>
            </a:extLst>
          </p:cNvPr>
          <p:cNvSpPr/>
          <p:nvPr/>
        </p:nvSpPr>
        <p:spPr>
          <a:xfrm>
            <a:off x="457200" y="3675887"/>
            <a:ext cx="109728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F03B19-BDED-FCFD-533C-8D901A996E8F}"/>
              </a:ext>
            </a:extLst>
          </p:cNvPr>
          <p:cNvSpPr txBox="1"/>
          <p:nvPr/>
        </p:nvSpPr>
        <p:spPr>
          <a:xfrm>
            <a:off x="658368" y="3712463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E4EC"/>
                </a:solidFill>
                <a:latin typeface="Calibri"/>
              </a:rPr>
              <a:t>Chatbot module for arsenic awareness education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F7284D1-B94B-4906-4560-732DC84E7C8C}"/>
              </a:ext>
            </a:extLst>
          </p:cNvPr>
          <p:cNvSpPr/>
          <p:nvPr/>
        </p:nvSpPr>
        <p:spPr>
          <a:xfrm>
            <a:off x="457200" y="4041648"/>
            <a:ext cx="109728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82314D-D767-4663-08C5-0D5F1DA59BE4}"/>
              </a:ext>
            </a:extLst>
          </p:cNvPr>
          <p:cNvSpPr txBox="1"/>
          <p:nvPr/>
        </p:nvSpPr>
        <p:spPr>
          <a:xfrm>
            <a:off x="658368" y="4078224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E4EC"/>
                </a:solidFill>
                <a:latin typeface="Calibri"/>
              </a:rPr>
              <a:t>Diagnostic scripts (test_model.py, /api/predict-probs)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DD2F254-52E7-7A20-2DEE-040EBA7B823C}"/>
              </a:ext>
            </a:extLst>
          </p:cNvPr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930260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solidFill>
                  <a:srgbClr val="FFFFFF"/>
                </a:solidFill>
                <a:latin typeface="Calibri"/>
              </a:rPr>
              <a:t>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868680"/>
            <a:ext cx="27432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2352021"/>
            <a:ext cx="741522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98722" y="2313717"/>
            <a:ext cx="4206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0A896"/>
                </a:solidFill>
                <a:latin typeface="Calibri"/>
              </a:rPr>
              <a:t>Future Improvements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4869" y="1495273"/>
            <a:ext cx="109728" cy="347472"/>
          </a:xfrm>
          <a:prstGeom prst="rect">
            <a:avLst/>
          </a:prstGeom>
          <a:solidFill>
            <a:srgbClr val="F4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64608" y="1499616"/>
            <a:ext cx="1463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Calibri"/>
              </a:rPr>
              <a:t>Password Security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4608" y="1682496"/>
            <a:ext cx="3931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5A7A8A"/>
                </a:solidFill>
                <a:latin typeface="Calibri"/>
              </a:rPr>
              <a:t>Replace plaintext storage with </a:t>
            </a:r>
            <a:r>
              <a:rPr sz="1100" b="0" i="0" dirty="0" err="1">
                <a:solidFill>
                  <a:srgbClr val="5A7A8A"/>
                </a:solidFill>
                <a:latin typeface="Calibri"/>
              </a:rPr>
              <a:t>bcrypt</a:t>
            </a:r>
            <a:r>
              <a:rPr sz="1100" b="0" i="0" dirty="0">
                <a:solidFill>
                  <a:srgbClr val="5A7A8A"/>
                </a:solidFill>
                <a:latin typeface="Calibri"/>
              </a:rPr>
              <a:t> hashing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1911095"/>
            <a:ext cx="109728" cy="347472"/>
          </a:xfrm>
          <a:prstGeom prst="rect">
            <a:avLst/>
          </a:prstGeom>
          <a:solidFill>
            <a:srgbClr val="F4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64608" y="1929384"/>
            <a:ext cx="1463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Calibri"/>
              </a:rPr>
              <a:t>Database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64608" y="2112264"/>
            <a:ext cx="3931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5A7A8A"/>
                </a:solidFill>
                <a:latin typeface="Calibri"/>
              </a:rPr>
              <a:t>Migrate from CSV to SQLite / PostgreSQL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2340863"/>
            <a:ext cx="109728" cy="347472"/>
          </a:xfrm>
          <a:prstGeom prst="rect">
            <a:avLst/>
          </a:prstGeom>
          <a:solidFill>
            <a:srgbClr val="F4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64608" y="2359151"/>
            <a:ext cx="1463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Calibri"/>
              </a:rPr>
              <a:t>Model Accuracy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64608" y="2542032"/>
            <a:ext cx="3931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5A7A8A"/>
                </a:solidFill>
                <a:latin typeface="Calibri"/>
              </a:rPr>
              <a:t>Fine-tune ResNet50 backbone, add data augmentation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63440" y="2770631"/>
            <a:ext cx="109728" cy="347472"/>
          </a:xfrm>
          <a:prstGeom prst="rect">
            <a:avLst/>
          </a:prstGeom>
          <a:solidFill>
            <a:srgbClr val="F4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64608" y="2788919"/>
            <a:ext cx="1463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Calibri"/>
              </a:rPr>
              <a:t>Grad-CAM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64608" y="2971799"/>
            <a:ext cx="3931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5A7A8A"/>
                </a:solidFill>
                <a:latin typeface="Calibri"/>
              </a:rPr>
              <a:t>Visual explanations showing which skin areas triggered detection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63440" y="3200399"/>
            <a:ext cx="109728" cy="347472"/>
          </a:xfrm>
          <a:prstGeom prst="rect">
            <a:avLst/>
          </a:prstGeom>
          <a:solidFill>
            <a:srgbClr val="F4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64608" y="3218687"/>
            <a:ext cx="1463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Calibri"/>
              </a:rPr>
              <a:t>API Auth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64608" y="3401567"/>
            <a:ext cx="3931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5A7A8A"/>
                </a:solidFill>
                <a:latin typeface="Calibri"/>
              </a:rPr>
              <a:t>Add JWT tokens for REST API security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63440" y="3630167"/>
            <a:ext cx="109728" cy="347472"/>
          </a:xfrm>
          <a:prstGeom prst="rect">
            <a:avLst/>
          </a:prstGeom>
          <a:solidFill>
            <a:srgbClr val="F4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864608" y="3648455"/>
            <a:ext cx="1463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Calibri"/>
              </a:rPr>
              <a:t>Mobile App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64608" y="3831335"/>
            <a:ext cx="3931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5A7A8A"/>
                </a:solidFill>
                <a:latin typeface="Calibri"/>
              </a:rPr>
              <a:t>React Native / Flutter frontend for field use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63440" y="4059935"/>
            <a:ext cx="109728" cy="347472"/>
          </a:xfrm>
          <a:prstGeom prst="rect">
            <a:avLst/>
          </a:prstGeom>
          <a:solidFill>
            <a:srgbClr val="F4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864608" y="4078223"/>
            <a:ext cx="1463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Calibri"/>
              </a:rPr>
              <a:t>Confidence UX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64608" y="4261103"/>
            <a:ext cx="3931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5A7A8A"/>
                </a:solidFill>
                <a:latin typeface="Calibri"/>
              </a:rPr>
              <a:t>Show uncertainty ranges, suggest re-upload threshold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2962" y="4773460"/>
            <a:ext cx="8229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062A40"/>
                </a:solidFill>
                <a:latin typeface="Calibri"/>
              </a:rPr>
              <a:t>github.com/naeem2172/-Arsenic-skin-detection--Model  ·  North South University  ·  CSE 499B Capstone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908D5C9-6281-DEA7-F217-BFB681B646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Arial Rounded MT Bold" panose="020F070403050403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13775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725</Words>
  <Application>Microsoft Office PowerPoint</Application>
  <PresentationFormat>On-screen Show (16:9)</PresentationFormat>
  <Paragraphs>131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Rounded MT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NEW</dc:creator>
  <cp:keywords/>
  <dc:description>generated using python-pptx</dc:description>
  <cp:lastModifiedBy>NEW</cp:lastModifiedBy>
  <cp:revision>3</cp:revision>
  <dcterms:created xsi:type="dcterms:W3CDTF">2013-01-27T09:14:16Z</dcterms:created>
  <dcterms:modified xsi:type="dcterms:W3CDTF">2026-04-26T05:15:24Z</dcterms:modified>
  <cp:category/>
</cp:coreProperties>
</file>